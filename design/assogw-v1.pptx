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80" r:id="rId5"/>
    <p:sldId id="294" r:id="rId6"/>
    <p:sldId id="286" r:id="rId7"/>
    <p:sldId id="289" r:id="rId8"/>
    <p:sldId id="290" r:id="rId9"/>
    <p:sldId id="291" r:id="rId10"/>
    <p:sldId id="292" r:id="rId11"/>
    <p:sldId id="293" r:id="rId12"/>
    <p:sldId id="282" r:id="rId1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1EC"/>
    <a:srgbClr val="FAF8F6"/>
    <a:srgbClr val="D6D6D5"/>
    <a:srgbClr val="D4BF91"/>
    <a:srgbClr val="3C3D3C"/>
    <a:srgbClr val="2061DF"/>
    <a:srgbClr val="AD9369"/>
    <a:srgbClr val="D4BF90"/>
    <a:srgbClr val="242B38"/>
    <a:srgbClr val="214B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8" autoAdjust="0"/>
    <p:restoredTop sz="94619" autoAdjust="0"/>
  </p:normalViewPr>
  <p:slideViewPr>
    <p:cSldViewPr snapToGrid="0">
      <p:cViewPr>
        <p:scale>
          <a:sx n="75" d="100"/>
          <a:sy n="75" d="100"/>
        </p:scale>
        <p:origin x="1872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05132-4288-4164-B1CA-F5AC1CC796A7}" type="datetime1">
              <a:rPr lang="pt-BR" smtClean="0"/>
              <a:t>11/02/2026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B07BE-C169-4870-872B-F61D89F55549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08977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37FA0DA-72A3-424F-8A35-066434C5B9F1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354758-9FD6-46D3-BA08-042BE364EA46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pPr rtl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A070AB-0B0E-4B2D-804F-566417906A61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8BC9E8-30A4-4EE6-BB83-B04327D9020A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pPr rtl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2B272B-E9E3-4682-90D8-4B44853FAF6D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Imagem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55272F-B51B-4957-97B0-074D18FB99AD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56502-BDB4-46EE-9217-C5A23E5BE0CE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E6A84A-F340-402E-97D3-C59F51FBE66F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C5BF86-AA12-49E0-AC44-8E2B1E4B1B72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pPr rtl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5EFD07-A8B9-401F-868B-7649A9F826C1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GB" noProof="0"/>
              <a:t>Click icon to add picture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8ECD64-5AF2-4F32-AD18-136C465DC047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F6B3D0-4304-407F-B819-80FF4D568789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F363FB-ECEA-4A76-B765-85460030C156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  <p:sp>
        <p:nvSpPr>
          <p:cNvPr id="11" name="Caixa de texto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sz="8000" noProof="0" dirty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3" name="Caixa de texto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 dirty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319CEA-9EF4-4A65-A004-44DCCF154232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91AA47-C612-4DA8-B151-4B748B7DAC4D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Imagem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Imagem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pt-BR" noProof="0" dirty="0"/>
          </a:p>
        </p:txBody>
      </p:sp>
      <p:sp>
        <p:nvSpPr>
          <p:cNvPr id="19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0" name="Espaço Reservado para Imagem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pt-BR" noProof="0" dirty="0"/>
          </a:p>
        </p:txBody>
      </p:sp>
      <p:sp>
        <p:nvSpPr>
          <p:cNvPr id="21" name="Espaço reservado para texto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2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3" name="Espaço Reservado para Imagem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pt-BR" noProof="0" dirty="0"/>
          </a:p>
        </p:txBody>
      </p:sp>
      <p:sp>
        <p:nvSpPr>
          <p:cNvPr id="24" name="Espaço reservado para texto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Espaço reservado para texto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Espaço reservado para imagem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pt-BR" noProof="0" dirty="0"/>
          </a:p>
        </p:txBody>
      </p:sp>
      <p:sp>
        <p:nvSpPr>
          <p:cNvPr id="27" name="Espaço reservado para texto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27F2B2-02FF-4D65-8FE7-F6AE0D863843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76D0790B-18CF-4284-B479-4F95A66DEDDE}" type="datetime1">
              <a:rPr lang="pt-BR" noProof="0" smtClean="0"/>
              <a:t>11/02/2026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 dirty="0"/>
          </a:p>
        </p:txBody>
      </p:sp>
      <p:pic>
        <p:nvPicPr>
          <p:cNvPr id="8" name="Picture 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1BE3ADA9-613F-6D1F-EB1F-831B50057F5C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5550061" y="6454774"/>
            <a:ext cx="1081229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bg1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ar parked in front of a pool&#10;&#10;AI-generated content may be incorrect.">
            <a:extLst>
              <a:ext uri="{FF2B5EF4-FFF2-40B4-BE49-F238E27FC236}">
                <a16:creationId xmlns:a16="http://schemas.microsoft.com/office/drawing/2014/main" id="{4FAD9069-3D43-6C6C-E59C-DEE55961CD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15" r="1376" b="-2"/>
          <a:stretch>
            <a:fillRect/>
          </a:stretch>
        </p:blipFill>
        <p:spPr>
          <a:xfrm>
            <a:off x="-35169" y="-1641231"/>
            <a:ext cx="12461631" cy="9295011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66C70C1-17B6-EF7C-2653-F4426A379E47}"/>
              </a:ext>
            </a:extLst>
          </p:cNvPr>
          <p:cNvSpPr/>
          <p:nvPr/>
        </p:nvSpPr>
        <p:spPr>
          <a:xfrm>
            <a:off x="57150" y="5962650"/>
            <a:ext cx="6229350" cy="793750"/>
          </a:xfrm>
          <a:prstGeom prst="rect">
            <a:avLst/>
          </a:prstGeom>
          <a:solidFill>
            <a:srgbClr val="2329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b="1" dirty="0"/>
              <a:t>ASSOGW</a:t>
            </a:r>
          </a:p>
          <a:p>
            <a:r>
              <a:rPr lang="pt-BR" sz="1200" dirty="0"/>
              <a:t>ASSOCIAÇÃO DE CONCESSIONÁRIAS GREAT WALL</a:t>
            </a:r>
          </a:p>
        </p:txBody>
      </p:sp>
    </p:spTree>
    <p:extLst>
      <p:ext uri="{BB962C8B-B14F-4D97-AF65-F5344CB8AC3E}">
        <p14:creationId xmlns:p14="http://schemas.microsoft.com/office/powerpoint/2010/main" val="1323805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05EBB-763F-0C44-62A5-D7C291F3C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3DD4-45A8-2575-8211-771A9CB1B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1435"/>
            <a:ext cx="10353762" cy="1383030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A Linguagem das 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7CB49-225F-050D-1B49-3FCED37A8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82726"/>
            <a:ext cx="10353762" cy="3965574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pt-BR" dirty="0">
                <a:solidFill>
                  <a:schemeClr val="bg1"/>
                </a:solidFill>
                <a:effectLst/>
              </a:rPr>
              <a:t>A identidade visual da </a:t>
            </a:r>
            <a:r>
              <a:rPr lang="pt-BR" u="sng" dirty="0">
                <a:solidFill>
                  <a:schemeClr val="bg1"/>
                </a:solidFill>
                <a:effectLst/>
              </a:rPr>
              <a:t>ASSOGW</a:t>
            </a:r>
            <a:r>
              <a:rPr lang="pt-BR" dirty="0">
                <a:solidFill>
                  <a:schemeClr val="bg1"/>
                </a:solidFill>
                <a:effectLst/>
              </a:rPr>
              <a:t> nasce de uma escolha deliberada: traduzir em cores os valores de uma associação que representa o futuro da mobilidade no Brasil. Cada tom foi selecionado para comunicar com </a:t>
            </a:r>
            <a:r>
              <a:rPr lang="pt-BR" u="sng" dirty="0">
                <a:solidFill>
                  <a:schemeClr val="bg1"/>
                </a:solidFill>
                <a:effectLst/>
              </a:rPr>
              <a:t>distinção</a:t>
            </a:r>
            <a:r>
              <a:rPr lang="pt-BR" dirty="0">
                <a:solidFill>
                  <a:schemeClr val="bg1"/>
                </a:solidFill>
                <a:effectLst/>
              </a:rPr>
              <a:t>, juntos criam uma paleta que é, ao mesmo tempo, institucional e </a:t>
            </a:r>
            <a:r>
              <a:rPr lang="pt-BR" u="sng" dirty="0">
                <a:solidFill>
                  <a:schemeClr val="bg1"/>
                </a:solidFill>
                <a:effectLst/>
              </a:rPr>
              <a:t>contemporânea</a:t>
            </a:r>
            <a:r>
              <a:rPr lang="pt-BR" dirty="0">
                <a:solidFill>
                  <a:schemeClr val="bg1"/>
                </a:solidFill>
                <a:effectLst/>
              </a:rPr>
              <a:t>.</a:t>
            </a:r>
          </a:p>
        </p:txBody>
      </p:sp>
      <p:pic>
        <p:nvPicPr>
          <p:cNvPr id="5" name="Picture 4" descr="A car parked in front of a pool&#10;&#10;AI-generated content may be incorrect.">
            <a:extLst>
              <a:ext uri="{FF2B5EF4-FFF2-40B4-BE49-F238E27FC236}">
                <a16:creationId xmlns:a16="http://schemas.microsoft.com/office/drawing/2014/main" id="{4EB01683-4244-EC0B-AC93-337E61555B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28" t="31880" r="1376" b="15482"/>
          <a:stretch>
            <a:fillRect/>
          </a:stretch>
        </p:blipFill>
        <p:spPr>
          <a:xfrm>
            <a:off x="1509395" y="3465513"/>
            <a:ext cx="9162562" cy="27051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761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8805-9C92-5C65-8094-8CA84F52C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1435"/>
            <a:ext cx="10353762" cy="1383030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Azul Naval, a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4B6A-0AAB-3D57-597C-E760B5FD5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82726"/>
            <a:ext cx="10353762" cy="216534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pt-BR" dirty="0">
                <a:solidFill>
                  <a:schemeClr val="bg1"/>
                </a:solidFill>
                <a:effectLst/>
              </a:rPr>
              <a:t>O azul profundo é a cor institucional da ASSOGW. Ele carrega </a:t>
            </a:r>
            <a:r>
              <a:rPr lang="pt-BR" u="sng" dirty="0">
                <a:solidFill>
                  <a:schemeClr val="bg1"/>
                </a:solidFill>
                <a:effectLst/>
              </a:rPr>
              <a:t>solidez</a:t>
            </a:r>
            <a:r>
              <a:rPr lang="pt-BR" dirty="0">
                <a:solidFill>
                  <a:schemeClr val="bg1"/>
                </a:solidFill>
                <a:effectLst/>
              </a:rPr>
              <a:t>, </a:t>
            </a:r>
            <a:r>
              <a:rPr lang="pt-BR" u="sng" dirty="0">
                <a:solidFill>
                  <a:schemeClr val="bg1"/>
                </a:solidFill>
                <a:effectLst/>
              </a:rPr>
              <a:t>confiança</a:t>
            </a:r>
            <a:r>
              <a:rPr lang="pt-BR" dirty="0">
                <a:solidFill>
                  <a:schemeClr val="bg1"/>
                </a:solidFill>
                <a:effectLst/>
              </a:rPr>
              <a:t> e </a:t>
            </a:r>
            <a:r>
              <a:rPr lang="pt-BR" u="sng" dirty="0">
                <a:solidFill>
                  <a:schemeClr val="bg1"/>
                </a:solidFill>
                <a:effectLst/>
              </a:rPr>
              <a:t>seriedade</a:t>
            </a:r>
            <a:r>
              <a:rPr lang="pt-BR" dirty="0">
                <a:solidFill>
                  <a:schemeClr val="bg1"/>
                </a:solidFill>
                <a:effectLst/>
              </a:rPr>
              <a:t>. É a cor dos títulos, dos elementos de destaque e da presença principal da marca em qualquer material. Quando alguém vê esse azul, deve pensar em ASSOGW.</a:t>
            </a:r>
          </a:p>
          <a:p>
            <a:pPr marL="36900" indent="0">
              <a:buNone/>
            </a:pPr>
            <a:r>
              <a:rPr lang="pt-BR" dirty="0">
                <a:solidFill>
                  <a:schemeClr val="bg1"/>
                </a:solidFill>
                <a:effectLst/>
              </a:rPr>
              <a:t>Uma variação mais escura, quase noturna, é usada em fundos e seções de contraste, trazendo profundidade e sofisticação sem perder a conexão com o azul principal.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B581B6-DE16-35C7-7D55-65ADA0FF16EC}"/>
              </a:ext>
            </a:extLst>
          </p:cNvPr>
          <p:cNvSpPr/>
          <p:nvPr/>
        </p:nvSpPr>
        <p:spPr>
          <a:xfrm>
            <a:off x="4114800" y="3975100"/>
            <a:ext cx="1803400" cy="2260600"/>
          </a:xfrm>
          <a:prstGeom prst="rect">
            <a:avLst/>
          </a:prstGeom>
          <a:solidFill>
            <a:srgbClr val="214B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215B6B-D881-8A02-C897-9B3D22CE6436}"/>
              </a:ext>
            </a:extLst>
          </p:cNvPr>
          <p:cNvSpPr/>
          <p:nvPr/>
        </p:nvSpPr>
        <p:spPr>
          <a:xfrm>
            <a:off x="6096000" y="3975100"/>
            <a:ext cx="1803400" cy="2260600"/>
          </a:xfrm>
          <a:prstGeom prst="rect">
            <a:avLst/>
          </a:prstGeom>
          <a:solidFill>
            <a:srgbClr val="242B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648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11F57-086F-0484-A6B7-EB8204393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CAC9-9BB8-7F27-EE39-A0A7DE7B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1435"/>
            <a:ext cx="10353762" cy="1383030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Dourado, a distinção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DFE38-99E0-395E-D987-1556C1B0E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82726"/>
            <a:ext cx="10353762" cy="216534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pt-BR" dirty="0">
                <a:solidFill>
                  <a:schemeClr val="bg1"/>
                </a:solidFill>
                <a:effectLst/>
              </a:rPr>
              <a:t>O dourado é o </a:t>
            </a:r>
            <a:r>
              <a:rPr lang="pt-BR" u="sng" dirty="0">
                <a:solidFill>
                  <a:schemeClr val="bg1"/>
                </a:solidFill>
                <a:effectLst/>
              </a:rPr>
              <a:t>contraponto sofisticado e elegante</a:t>
            </a:r>
            <a:r>
              <a:rPr lang="pt-BR" dirty="0">
                <a:solidFill>
                  <a:schemeClr val="bg1"/>
                </a:solidFill>
                <a:effectLst/>
              </a:rPr>
              <a:t> ao azul. Ele aparece nos detalhes que fazem a diferença: separadores, acentos, ícones e elementos decorativos. Não é um dourado ostensivo, é sutil, quente, que transmite qualidade sem gritar. Uma variação mais densa, que chamamos de bronze, funciona para textos secundários e metadados sobre fundos claros.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6EB439-CE88-00AC-CF44-690810B068D6}"/>
              </a:ext>
            </a:extLst>
          </p:cNvPr>
          <p:cNvSpPr/>
          <p:nvPr/>
        </p:nvSpPr>
        <p:spPr>
          <a:xfrm>
            <a:off x="2133600" y="3962400"/>
            <a:ext cx="1803400" cy="2260600"/>
          </a:xfrm>
          <a:prstGeom prst="rect">
            <a:avLst/>
          </a:prstGeom>
          <a:solidFill>
            <a:srgbClr val="214B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A091F2-9F6F-B3D0-F6D9-735AD30E8FB3}"/>
              </a:ext>
            </a:extLst>
          </p:cNvPr>
          <p:cNvSpPr/>
          <p:nvPr/>
        </p:nvSpPr>
        <p:spPr>
          <a:xfrm>
            <a:off x="4114800" y="3962400"/>
            <a:ext cx="1803400" cy="2260600"/>
          </a:xfrm>
          <a:prstGeom prst="rect">
            <a:avLst/>
          </a:prstGeom>
          <a:solidFill>
            <a:srgbClr val="242B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B490B7-CC3A-101B-75C8-DD836ECCF5FE}"/>
              </a:ext>
            </a:extLst>
          </p:cNvPr>
          <p:cNvSpPr/>
          <p:nvPr/>
        </p:nvSpPr>
        <p:spPr>
          <a:xfrm>
            <a:off x="6096000" y="3962400"/>
            <a:ext cx="1803400" cy="2260600"/>
          </a:xfrm>
          <a:prstGeom prst="rect">
            <a:avLst/>
          </a:prstGeom>
          <a:solidFill>
            <a:srgbClr val="D4BF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87A5E-14C2-6364-B4A7-461BB75E9120}"/>
              </a:ext>
            </a:extLst>
          </p:cNvPr>
          <p:cNvSpPr/>
          <p:nvPr/>
        </p:nvSpPr>
        <p:spPr>
          <a:xfrm>
            <a:off x="8077200" y="3962400"/>
            <a:ext cx="1803400" cy="2260600"/>
          </a:xfrm>
          <a:prstGeom prst="rect">
            <a:avLst/>
          </a:prstGeom>
          <a:solidFill>
            <a:srgbClr val="AD9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632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B236D-1554-B54C-309B-950203D4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E524F-9B0B-F302-A08F-49BAE437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1435"/>
            <a:ext cx="10353762" cy="1383030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Azul Elétrico, o toque de energia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E4C5B-F582-EBBA-6D65-CA3032858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82726"/>
            <a:ext cx="10353762" cy="216534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pt-BR" dirty="0">
                <a:solidFill>
                  <a:schemeClr val="bg1"/>
                </a:solidFill>
                <a:effectLst/>
              </a:rPr>
              <a:t>Um azul vibrante foi reservado para momentos de destaque pontual: um botão urgente, um </a:t>
            </a:r>
            <a:r>
              <a:rPr lang="pt-BR" dirty="0" err="1">
                <a:solidFill>
                  <a:schemeClr val="bg1"/>
                </a:solidFill>
                <a:effectLst/>
              </a:rPr>
              <a:t>badge</a:t>
            </a:r>
            <a:r>
              <a:rPr lang="pt-BR" dirty="0">
                <a:solidFill>
                  <a:schemeClr val="bg1"/>
                </a:solidFill>
                <a:effectLst/>
              </a:rPr>
              <a:t> de notícia nova, uma chamada para ação que precisa saltar da tela. É a cor da inovação e da </a:t>
            </a:r>
            <a:r>
              <a:rPr lang="pt-BR" u="sng" dirty="0">
                <a:solidFill>
                  <a:schemeClr val="bg1"/>
                </a:solidFill>
                <a:effectLst/>
              </a:rPr>
              <a:t>energia elétrica</a:t>
            </a:r>
            <a:r>
              <a:rPr lang="pt-BR" dirty="0">
                <a:solidFill>
                  <a:schemeClr val="bg1"/>
                </a:solidFill>
                <a:effectLst/>
              </a:rPr>
              <a:t>, literalmente. Deve ser usado com moderação: quando aparece, precisa significar algo.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BAD18A-1A37-9825-5394-28FAFE110327}"/>
              </a:ext>
            </a:extLst>
          </p:cNvPr>
          <p:cNvSpPr/>
          <p:nvPr/>
        </p:nvSpPr>
        <p:spPr>
          <a:xfrm>
            <a:off x="1282700" y="3898900"/>
            <a:ext cx="1803400" cy="2260600"/>
          </a:xfrm>
          <a:prstGeom prst="rect">
            <a:avLst/>
          </a:prstGeom>
          <a:solidFill>
            <a:srgbClr val="214B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CF80F8-CB14-29F4-0F7A-EA90FE53CE08}"/>
              </a:ext>
            </a:extLst>
          </p:cNvPr>
          <p:cNvSpPr/>
          <p:nvPr/>
        </p:nvSpPr>
        <p:spPr>
          <a:xfrm>
            <a:off x="3263900" y="3898900"/>
            <a:ext cx="1803400" cy="2260600"/>
          </a:xfrm>
          <a:prstGeom prst="rect">
            <a:avLst/>
          </a:prstGeom>
          <a:solidFill>
            <a:srgbClr val="242B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B2B37D-5A13-0469-14EC-AB192B0C1C01}"/>
              </a:ext>
            </a:extLst>
          </p:cNvPr>
          <p:cNvSpPr/>
          <p:nvPr/>
        </p:nvSpPr>
        <p:spPr>
          <a:xfrm>
            <a:off x="5245100" y="3898900"/>
            <a:ext cx="1803400" cy="2260600"/>
          </a:xfrm>
          <a:prstGeom prst="rect">
            <a:avLst/>
          </a:prstGeom>
          <a:solidFill>
            <a:srgbClr val="D4BF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8A97E2-7D5B-4C77-2D0F-14A9C6B19101}"/>
              </a:ext>
            </a:extLst>
          </p:cNvPr>
          <p:cNvSpPr/>
          <p:nvPr/>
        </p:nvSpPr>
        <p:spPr>
          <a:xfrm>
            <a:off x="7226300" y="3898900"/>
            <a:ext cx="1803400" cy="2260600"/>
          </a:xfrm>
          <a:prstGeom prst="rect">
            <a:avLst/>
          </a:prstGeom>
          <a:solidFill>
            <a:srgbClr val="AD9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85349E-F4D4-2C2F-7D33-B1C8226CA573}"/>
              </a:ext>
            </a:extLst>
          </p:cNvPr>
          <p:cNvSpPr/>
          <p:nvPr/>
        </p:nvSpPr>
        <p:spPr>
          <a:xfrm>
            <a:off x="9207500" y="3898900"/>
            <a:ext cx="1803400" cy="2260600"/>
          </a:xfrm>
          <a:prstGeom prst="rect">
            <a:avLst/>
          </a:prstGeom>
          <a:solidFill>
            <a:srgbClr val="2061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611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CED73-305A-8640-17E7-7F0C32B1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537EB-9CCF-3FB0-E2F9-3390A404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1435"/>
            <a:ext cx="10353762" cy="1383030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Cores neutras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ABCAA-F20F-FC49-FDCA-211A2AAF6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82726"/>
            <a:ext cx="10353762" cy="216534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pt-BR" dirty="0">
                <a:solidFill>
                  <a:schemeClr val="bg1"/>
                </a:solidFill>
                <a:effectLst/>
              </a:rPr>
              <a:t>Toda paleta precisa de um palco limpo onde as cores protagonistas possam brilhar. O fundo claro quase branco dá respiro e elegância às páginas. O cinza cria as linhas finas que organizam conteúdo sem pesar. O carvão é a cor dos textos corridos, escuro o suficiente para boa leitura, mas leve o suficiente para não cansar. E o branco puro aparece em cards e superfícies que precisam de destaque.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7D417B-B680-D41D-0F22-64F6BC8F2673}"/>
              </a:ext>
            </a:extLst>
          </p:cNvPr>
          <p:cNvSpPr/>
          <p:nvPr/>
        </p:nvSpPr>
        <p:spPr>
          <a:xfrm>
            <a:off x="4597400" y="3898900"/>
            <a:ext cx="3187700" cy="2260600"/>
          </a:xfrm>
          <a:prstGeom prst="rect">
            <a:avLst/>
          </a:prstGeom>
          <a:solidFill>
            <a:srgbClr val="D6D6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C95953-9098-CC6E-CD8E-3421BB7C9CA0}"/>
              </a:ext>
            </a:extLst>
          </p:cNvPr>
          <p:cNvSpPr/>
          <p:nvPr/>
        </p:nvSpPr>
        <p:spPr>
          <a:xfrm>
            <a:off x="1282700" y="3898900"/>
            <a:ext cx="3187700" cy="2260600"/>
          </a:xfrm>
          <a:prstGeom prst="rect">
            <a:avLst/>
          </a:prstGeom>
          <a:solidFill>
            <a:srgbClr val="F5F1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A6D9FC-D03A-200B-DF56-CB0F8FCBE840}"/>
              </a:ext>
            </a:extLst>
          </p:cNvPr>
          <p:cNvSpPr/>
          <p:nvPr/>
        </p:nvSpPr>
        <p:spPr>
          <a:xfrm>
            <a:off x="7912100" y="3898900"/>
            <a:ext cx="3187700" cy="2260600"/>
          </a:xfrm>
          <a:prstGeom prst="rect">
            <a:avLst/>
          </a:prstGeom>
          <a:solidFill>
            <a:srgbClr val="3C3D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0156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C86B4E-8586-5A26-0F21-9ACC98FE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9D25-3E20-5F79-8592-93E7B0D60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1435"/>
            <a:ext cx="10353762" cy="1383030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Paleta de Cores ASSOGW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A428C9-EBF7-AE13-5093-D689D67F854F}"/>
              </a:ext>
            </a:extLst>
          </p:cNvPr>
          <p:cNvSpPr/>
          <p:nvPr/>
        </p:nvSpPr>
        <p:spPr>
          <a:xfrm>
            <a:off x="4597400" y="3898900"/>
            <a:ext cx="3187700" cy="2260600"/>
          </a:xfrm>
          <a:prstGeom prst="rect">
            <a:avLst/>
          </a:prstGeom>
          <a:solidFill>
            <a:srgbClr val="D6D6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#D6D6D6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BE115C-6EEA-31B9-6E56-C6A142FFCB3C}"/>
              </a:ext>
            </a:extLst>
          </p:cNvPr>
          <p:cNvSpPr/>
          <p:nvPr/>
        </p:nvSpPr>
        <p:spPr>
          <a:xfrm>
            <a:off x="1282700" y="3898900"/>
            <a:ext cx="3187700" cy="2260600"/>
          </a:xfrm>
          <a:prstGeom prst="rect">
            <a:avLst/>
          </a:prstGeom>
          <a:solidFill>
            <a:srgbClr val="F5F1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#F7F6F3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DA73EE-8C99-6103-4A38-E14999C32FD0}"/>
              </a:ext>
            </a:extLst>
          </p:cNvPr>
          <p:cNvSpPr/>
          <p:nvPr/>
        </p:nvSpPr>
        <p:spPr>
          <a:xfrm>
            <a:off x="7912100" y="3898900"/>
            <a:ext cx="3187700" cy="2260600"/>
          </a:xfrm>
          <a:prstGeom prst="rect">
            <a:avLst/>
          </a:prstGeom>
          <a:solidFill>
            <a:srgbClr val="3C3D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dirty="0"/>
              <a:t>#2E2E2E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9F2F88-9BE4-4172-915D-6E5D229735A8}"/>
              </a:ext>
            </a:extLst>
          </p:cNvPr>
          <p:cNvSpPr/>
          <p:nvPr/>
        </p:nvSpPr>
        <p:spPr>
          <a:xfrm>
            <a:off x="1282700" y="1422400"/>
            <a:ext cx="1803400" cy="2260600"/>
          </a:xfrm>
          <a:prstGeom prst="rect">
            <a:avLst/>
          </a:prstGeom>
          <a:solidFill>
            <a:srgbClr val="214B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dirty="0"/>
              <a:t>#00447F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6DA8EA-0DC5-1D26-38BC-256FBE2A513A}"/>
              </a:ext>
            </a:extLst>
          </p:cNvPr>
          <p:cNvSpPr/>
          <p:nvPr/>
        </p:nvSpPr>
        <p:spPr>
          <a:xfrm>
            <a:off x="3263900" y="1422400"/>
            <a:ext cx="1803400" cy="2260600"/>
          </a:xfrm>
          <a:prstGeom prst="rect">
            <a:avLst/>
          </a:prstGeom>
          <a:solidFill>
            <a:srgbClr val="242B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/>
              <a:t>#0B1A2B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3370C0-BBF1-479E-8D6E-4CFF159645CB}"/>
              </a:ext>
            </a:extLst>
          </p:cNvPr>
          <p:cNvSpPr/>
          <p:nvPr/>
        </p:nvSpPr>
        <p:spPr>
          <a:xfrm>
            <a:off x="5245100" y="1422400"/>
            <a:ext cx="1803400" cy="2260600"/>
          </a:xfrm>
          <a:prstGeom prst="rect">
            <a:avLst/>
          </a:prstGeom>
          <a:solidFill>
            <a:srgbClr val="D4BF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dirty="0"/>
              <a:t>#C6B18A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B155E3-4E9D-F1E8-C5DE-EB96D4696A81}"/>
              </a:ext>
            </a:extLst>
          </p:cNvPr>
          <p:cNvSpPr/>
          <p:nvPr/>
        </p:nvSpPr>
        <p:spPr>
          <a:xfrm>
            <a:off x="7226300" y="1422400"/>
            <a:ext cx="1803400" cy="2260600"/>
          </a:xfrm>
          <a:prstGeom prst="rect">
            <a:avLst/>
          </a:prstGeom>
          <a:solidFill>
            <a:srgbClr val="AD9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dirty="0"/>
              <a:t>#9E8A64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C6661E-472D-25B9-0BB2-815DA287DFED}"/>
              </a:ext>
            </a:extLst>
          </p:cNvPr>
          <p:cNvSpPr/>
          <p:nvPr/>
        </p:nvSpPr>
        <p:spPr>
          <a:xfrm>
            <a:off x="9207500" y="1422400"/>
            <a:ext cx="1803400" cy="2260600"/>
          </a:xfrm>
          <a:prstGeom prst="rect">
            <a:avLst/>
          </a:prstGeom>
          <a:solidFill>
            <a:srgbClr val="2061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dirty="0"/>
              <a:t>#0129FF</a:t>
            </a:r>
          </a:p>
        </p:txBody>
      </p:sp>
    </p:spTree>
    <p:extLst>
      <p:ext uri="{BB962C8B-B14F-4D97-AF65-F5344CB8AC3E}">
        <p14:creationId xmlns:p14="http://schemas.microsoft.com/office/powerpoint/2010/main" val="762752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60519-1D26-0819-298A-DCCCF9D20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938B8-AB52-19FE-49F2-C8DD5D163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1435"/>
            <a:ext cx="10353762" cy="1383030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Logotipo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6B5AA-2389-FB3A-A15E-9EE19292E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82726"/>
            <a:ext cx="10353762" cy="3965574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pt-BR" dirty="0">
                <a:solidFill>
                  <a:schemeClr val="bg1"/>
                </a:solidFill>
                <a:effectLst/>
              </a:rPr>
              <a:t>O logotipo da ASSOGW combina o símbolo oficial da </a:t>
            </a:r>
            <a:r>
              <a:rPr lang="pt-BR" dirty="0" err="1">
                <a:solidFill>
                  <a:schemeClr val="bg1"/>
                </a:solidFill>
                <a:effectLst/>
              </a:rPr>
              <a:t>Great</a:t>
            </a:r>
            <a:r>
              <a:rPr lang="pt-BR" dirty="0">
                <a:solidFill>
                  <a:schemeClr val="bg1"/>
                </a:solidFill>
                <a:effectLst/>
              </a:rPr>
              <a:t> Wall Motors com a sigla da associação em uma composição horizontal equilibrada. O ‘ASSO’ aparece em azul naval, representando a solidez institucional, enquanto ‘GW’ é renderizado em dourado, criando uma distinção visual que remete à origem da marca. Abaixo, o nome completo ‘Associação de Concessionárias </a:t>
            </a:r>
            <a:r>
              <a:rPr lang="pt-BR" dirty="0" err="1">
                <a:solidFill>
                  <a:schemeClr val="bg1"/>
                </a:solidFill>
                <a:effectLst/>
              </a:rPr>
              <a:t>Great</a:t>
            </a:r>
            <a:r>
              <a:rPr lang="pt-BR" dirty="0">
                <a:solidFill>
                  <a:schemeClr val="bg1"/>
                </a:solidFill>
                <a:effectLst/>
              </a:rPr>
              <a:t> Wall’.</a:t>
            </a:r>
          </a:p>
        </p:txBody>
      </p:sp>
      <p:pic>
        <p:nvPicPr>
          <p:cNvPr id="4" name="Picture 3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A8CEFA4-1155-7941-7A70-9F001C16E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611" y="4416555"/>
            <a:ext cx="6122129" cy="132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263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B110E-1F48-2E44-95CC-4E7EF5A29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75AE760-4DD1-8FC5-79A6-75BECD89B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764" y="2346455"/>
            <a:ext cx="10012471" cy="216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8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27_TF55705232.potx" id="{CF89F022-7C0A-442C-87D4-E924F7E5F040}" vid="{1DB92B71-4A04-4E0B-81E6-75673672B25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{5A4403AB-3F7B-48D7-A288-5FA2CA330A08}TFe742eee6-54b3-45e8-a03d-f3d997f9b6caa95892a5_win32-dcd870250369</Template>
  <TotalTime>108</TotalTime>
  <Words>447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Goudy Old Style</vt:lpstr>
      <vt:lpstr>Wingdings 2</vt:lpstr>
      <vt:lpstr>SlateVTI</vt:lpstr>
      <vt:lpstr>PowerPoint Presentation</vt:lpstr>
      <vt:lpstr>A Linguagem das Cores</vt:lpstr>
      <vt:lpstr>Azul Naval, a base</vt:lpstr>
      <vt:lpstr>Dourado, a distinção</vt:lpstr>
      <vt:lpstr>Azul Elétrico, o toque de energia</vt:lpstr>
      <vt:lpstr>Cores neutras</vt:lpstr>
      <vt:lpstr>Paleta de Cores ASSOGW</vt:lpstr>
      <vt:lpstr>Logotipo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Cleiton  Tortato do Sacramento</dc:creator>
  <cp:lastModifiedBy>Cleiton  Tortato do Sacramento</cp:lastModifiedBy>
  <cp:revision>9</cp:revision>
  <dcterms:created xsi:type="dcterms:W3CDTF">2026-01-16T13:20:48Z</dcterms:created>
  <dcterms:modified xsi:type="dcterms:W3CDTF">2026-02-11T12:07:12Z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